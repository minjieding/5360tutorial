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0" y="3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097ECB-EABB-4B25-73CC-7280EF27F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146FBF-9E74-8E43-DF87-97227D0BC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24D9EC-6CD4-9327-9ADF-290D46EDC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76B2A-F95D-481C-98EA-D230C1110ADA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651241-8BA2-3A26-B9BD-8EBFAF7EC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E46F0A-A52B-5379-9617-AC71052D5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D284-150B-467C-AE8F-3FC62F14C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578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1B795D-1DD5-41F5-26DC-EB9E941BF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F7CFD8-CEF4-0808-F49C-C27B22177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F19855-CC67-5A3A-095E-9862747A3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76B2A-F95D-481C-98EA-D230C1110ADA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B2CDC0-062D-503D-3858-4A5922F2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7C6EFD-5FFD-3751-8F47-77EFDABC0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D284-150B-467C-AE8F-3FC62F14C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9226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BE010-B15B-3CE0-BFAC-9C203A7EC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5282FC-CFE1-A9B0-27C8-18B89F782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19D9B6-A516-F73A-AB89-DBFE420E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76B2A-F95D-481C-98EA-D230C1110ADA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82708C-155F-4B6C-F62F-1267955A4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D7774C-B106-613E-754B-3604F088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D284-150B-467C-AE8F-3FC62F14C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681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3DABE-FD4D-B04A-3B1E-DBB063341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A4BE89-F8DA-4B83-3B0D-3F2D3EED66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04C69C-BAE8-5E19-2FB1-A51301514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1B82F4-1C14-BAE3-4D3C-F5184BDD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76B2A-F95D-481C-98EA-D230C1110ADA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36F554-8404-EE5F-C74B-630759989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156E24-1A8B-5164-F0BC-9B09A7750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D284-150B-467C-AE8F-3FC62F14C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181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EE88EE-5D57-5859-C0E6-AC089890A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10854E-CB92-28B0-3919-1002CB0F1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E26AC3-18C5-D892-E9BA-F6768814F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7B5E127-85A0-53DE-2E95-2DAD5B47C5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5EB479D-8F16-91DF-9256-29301EE7D3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51756CC-E73D-B819-E87D-830F50FFB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76B2A-F95D-481C-98EA-D230C1110ADA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AEC1EF4-BA3C-B8DC-B4B5-BCF0AC38F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8BFC7E3-C4F6-94DF-7156-68DF78F10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D284-150B-467C-AE8F-3FC62F14C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008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A3205B-FFD0-8EB9-28F8-1C25C429F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4F4B726-D05F-9638-D1FB-D5A370FD1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76B2A-F95D-481C-98EA-D230C1110ADA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DCE0C25-3CD1-0099-4936-0CFAAF82D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5506BC-8210-B375-4061-87C8239FE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D284-150B-467C-AE8F-3FC62F14C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333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FDF1310-33B7-0E2C-C9C7-3EAC2AC33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76B2A-F95D-481C-98EA-D230C1110ADA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B5332D8-0C88-F49C-50C0-13799BB44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603378-0B91-DAE7-6874-BB7A90093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D284-150B-467C-AE8F-3FC62F14C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475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EA272-F0C6-F7BF-433A-3D3FA2129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2485B8-4256-FB29-AC00-100BE47A4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C96EAC-3AC1-8C65-FE5F-0185BF1F2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91E4E4-B51B-FCDB-33A2-27E182D6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76B2A-F95D-481C-98EA-D230C1110ADA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496FAC-0E60-51FB-01E1-EDA08FBC6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407557-FF39-803E-9408-E6F9E64EE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D284-150B-467C-AE8F-3FC62F14C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94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A76C47-D017-17D6-48DB-5E945522D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C12A05E-F107-81F5-9244-3C4F2DF14B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23D929-6487-C500-8AEB-C6C245E71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155126-7005-CFFE-A5A0-AF426045E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76B2A-F95D-481C-98EA-D230C1110ADA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1A6C2C-F71A-FA2F-E30A-3EFFD80F8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696BA8-0AE4-78C9-6D35-8F0306232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D284-150B-467C-AE8F-3FC62F14C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157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FC830C-4B55-CEC4-3C88-55751034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B50585-9530-C8CE-8901-C01792EAB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C1BCB9-1AB0-1585-CF67-5F24F9F87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76B2A-F95D-481C-98EA-D230C1110ADA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9F7FAB-3755-CE0D-BBFE-55A6C9013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6B66A8-6869-2E79-002C-681E28893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D284-150B-467C-AE8F-3FC62F14C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651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9FD4409-EB92-A613-9391-FD623BABCC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D6ECDF-2B8C-025C-41CE-E92D4E171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F9526A-63DD-037A-4C61-7CE3B982B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76B2A-F95D-481C-98EA-D230C1110ADA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3A26BC-A31B-17E2-3E59-63C1E364C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2AFDE9-0AFC-CDCA-05C0-3752AB455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2D284-150B-467C-AE8F-3FC62F14C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897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49DAE8-78F5-1A5F-957F-D4B454D19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C1ADC4-7DC6-EE82-B2A4-5C91B3939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6BD200-3B0B-F461-4D61-684FB5F6E9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76B2A-F95D-481C-98EA-D230C1110ADA}" type="datetimeFigureOut">
              <a:rPr lang="zh-CN" altLang="en-US" smtClean="0"/>
              <a:t>2025/1/3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859659-B626-B269-298A-A410FAB60A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759218-E88A-D892-5A49-13F4EDF91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72D284-150B-467C-AE8F-3FC62F14C1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909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6DF8D0-679C-4AD2-4A05-F13703576F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3C6C59C-84DE-0539-6953-1FAB9F7627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42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61183D0-1614-9A1D-3A37-0ED8CFF3FCB2}"/>
                  </a:ext>
                </a:extLst>
              </p:cNvPr>
              <p:cNvSpPr txBox="1"/>
              <p:nvPr/>
            </p:nvSpPr>
            <p:spPr>
              <a:xfrm>
                <a:off x="2887564" y="1988439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61183D0-1614-9A1D-3A37-0ED8CFF3F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564" y="1988439"/>
                <a:ext cx="103939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46A3266-E212-CC02-859E-23EB231869D2}"/>
                  </a:ext>
                </a:extLst>
              </p:cNvPr>
              <p:cNvSpPr txBox="1"/>
              <p:nvPr/>
            </p:nvSpPr>
            <p:spPr>
              <a:xfrm>
                <a:off x="2887564" y="2899571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46A3266-E212-CC02-859E-23EB23186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564" y="2899571"/>
                <a:ext cx="103939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8F3F2F2-CCEA-0B50-C314-0E4B36088000}"/>
                  </a:ext>
                </a:extLst>
              </p:cNvPr>
              <p:cNvSpPr txBox="1"/>
              <p:nvPr/>
            </p:nvSpPr>
            <p:spPr>
              <a:xfrm>
                <a:off x="4549787" y="1988439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8F3F2F2-CCEA-0B50-C314-0E4B36088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787" y="1988439"/>
                <a:ext cx="103939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7D163D5-646A-1F8F-4A87-DFB3175D8A34}"/>
                  </a:ext>
                </a:extLst>
              </p:cNvPr>
              <p:cNvSpPr txBox="1"/>
              <p:nvPr/>
            </p:nvSpPr>
            <p:spPr>
              <a:xfrm>
                <a:off x="4549787" y="2899571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7D163D5-646A-1F8F-4A87-DFB3175D8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787" y="2899571"/>
                <a:ext cx="103939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D5F4EA7-89A6-ECD0-2FD4-0BF70D9CA921}"/>
                  </a:ext>
                </a:extLst>
              </p:cNvPr>
              <p:cNvSpPr txBox="1"/>
              <p:nvPr/>
            </p:nvSpPr>
            <p:spPr>
              <a:xfrm>
                <a:off x="6212010" y="1988439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D5F4EA7-89A6-ECD0-2FD4-0BF70D9CA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010" y="1988439"/>
                <a:ext cx="103939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59A3004-FAD0-6BE6-54D8-7BE85D7756A1}"/>
                  </a:ext>
                </a:extLst>
              </p:cNvPr>
              <p:cNvSpPr txBox="1"/>
              <p:nvPr/>
            </p:nvSpPr>
            <p:spPr>
              <a:xfrm>
                <a:off x="6212010" y="2899571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59A3004-FAD0-6BE6-54D8-7BE85D7756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010" y="2899571"/>
                <a:ext cx="103939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070552F-704B-75B1-12F4-39689E1F7A1A}"/>
              </a:ext>
            </a:extLst>
          </p:cNvPr>
          <p:cNvCxnSpPr>
            <a:stCxn id="2" idx="3"/>
            <a:endCxn id="4" idx="1"/>
          </p:cNvCxnSpPr>
          <p:nvPr/>
        </p:nvCxnSpPr>
        <p:spPr>
          <a:xfrm>
            <a:off x="3926958" y="3084237"/>
            <a:ext cx="6228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A4F02F8D-CE9D-5A14-695F-3AEF9B7866B6}"/>
              </a:ext>
            </a:extLst>
          </p:cNvPr>
          <p:cNvCxnSpPr>
            <a:cxnSpLocks/>
            <a:stCxn id="2" idx="0"/>
            <a:endCxn id="19" idx="2"/>
          </p:cNvCxnSpPr>
          <p:nvPr/>
        </p:nvCxnSpPr>
        <p:spPr>
          <a:xfrm flipV="1">
            <a:off x="3407261" y="2357771"/>
            <a:ext cx="0" cy="541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70E0BF7-87A4-3736-F02B-BA6A14292A4C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5589181" y="3084237"/>
            <a:ext cx="6228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FB81FBA-1CE3-11AC-7C9D-8B5572B5D859}"/>
              </a:ext>
            </a:extLst>
          </p:cNvPr>
          <p:cNvCxnSpPr>
            <a:cxnSpLocks/>
            <a:stCxn id="4" idx="0"/>
            <a:endCxn id="3" idx="2"/>
          </p:cNvCxnSpPr>
          <p:nvPr/>
        </p:nvCxnSpPr>
        <p:spPr>
          <a:xfrm flipV="1">
            <a:off x="5069484" y="2357771"/>
            <a:ext cx="0" cy="541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56754295-5FC8-F9AE-62A7-8EDEFD156412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251404" y="3084237"/>
            <a:ext cx="6228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40D33310-2133-BE48-BC34-D8A1530C8C6F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V="1">
            <a:off x="6731707" y="2357771"/>
            <a:ext cx="0" cy="541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BC894E1-7755-02B4-B829-E12C585828CB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264735" y="3084237"/>
            <a:ext cx="6228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E433E3D0-1870-BF24-3211-ECE90C08C7CD}"/>
              </a:ext>
            </a:extLst>
          </p:cNvPr>
          <p:cNvSpPr txBox="1"/>
          <p:nvPr/>
        </p:nvSpPr>
        <p:spPr>
          <a:xfrm>
            <a:off x="4869711" y="3810703"/>
            <a:ext cx="228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 policy function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38D40243-C64E-614D-E318-1ECFFFB55730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5900595" y="3331535"/>
            <a:ext cx="113888" cy="479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5BA74A87-AE41-3C33-B39F-42D06556C42D}"/>
              </a:ext>
            </a:extLst>
          </p:cNvPr>
          <p:cNvSpPr txBox="1"/>
          <p:nvPr/>
        </p:nvSpPr>
        <p:spPr>
          <a:xfrm>
            <a:off x="4593739" y="1249775"/>
            <a:ext cx="300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 policy function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2513DD86-5455-FDB3-960E-4BE68F81E045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5256264" y="1619107"/>
            <a:ext cx="839736" cy="1009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450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A8EC8-33FD-6068-A18A-B1B5483F4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E545E5A-CD57-450D-5D57-135C85796FCD}"/>
                  </a:ext>
                </a:extLst>
              </p:cNvPr>
              <p:cNvSpPr txBox="1"/>
              <p:nvPr/>
            </p:nvSpPr>
            <p:spPr>
              <a:xfrm>
                <a:off x="2887564" y="1988439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E545E5A-CD57-450D-5D57-135C85796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564" y="1988439"/>
                <a:ext cx="103939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58839E3-4FB8-D407-0696-60F0355DA888}"/>
                  </a:ext>
                </a:extLst>
              </p:cNvPr>
              <p:cNvSpPr txBox="1"/>
              <p:nvPr/>
            </p:nvSpPr>
            <p:spPr>
              <a:xfrm>
                <a:off x="2887564" y="2899571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D58839E3-4FB8-D407-0696-60F0355DA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564" y="2899571"/>
                <a:ext cx="103939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1168B4A-7634-8577-57F2-66295051BFDF}"/>
                  </a:ext>
                </a:extLst>
              </p:cNvPr>
              <p:cNvSpPr txBox="1"/>
              <p:nvPr/>
            </p:nvSpPr>
            <p:spPr>
              <a:xfrm>
                <a:off x="4549787" y="1988439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E1168B4A-7634-8577-57F2-66295051B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787" y="1988439"/>
                <a:ext cx="103939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E0D15D3-2C56-472B-DBDF-D6D52A813F9C}"/>
                  </a:ext>
                </a:extLst>
              </p:cNvPr>
              <p:cNvSpPr txBox="1"/>
              <p:nvPr/>
            </p:nvSpPr>
            <p:spPr>
              <a:xfrm>
                <a:off x="4549787" y="2899571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E0D15D3-2C56-472B-DBDF-D6D52A813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787" y="2899571"/>
                <a:ext cx="103939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FF0A0A6-3968-CD02-F21E-A44D42BBBE2B}"/>
                  </a:ext>
                </a:extLst>
              </p:cNvPr>
              <p:cNvSpPr txBox="1"/>
              <p:nvPr/>
            </p:nvSpPr>
            <p:spPr>
              <a:xfrm>
                <a:off x="6212010" y="1988439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FF0A0A6-3968-CD02-F21E-A44D42BBB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010" y="1988439"/>
                <a:ext cx="103939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2239EBD-1C02-7751-0217-7EC7065E548F}"/>
                  </a:ext>
                </a:extLst>
              </p:cNvPr>
              <p:cNvSpPr txBox="1"/>
              <p:nvPr/>
            </p:nvSpPr>
            <p:spPr>
              <a:xfrm>
                <a:off x="6212010" y="2899571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2239EBD-1C02-7751-0217-7EC7065E54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010" y="2899571"/>
                <a:ext cx="103939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9BDA81A-0682-CD8C-7B94-FC7EAF62C678}"/>
              </a:ext>
            </a:extLst>
          </p:cNvPr>
          <p:cNvCxnSpPr>
            <a:stCxn id="2" idx="3"/>
            <a:endCxn id="4" idx="1"/>
          </p:cNvCxnSpPr>
          <p:nvPr/>
        </p:nvCxnSpPr>
        <p:spPr>
          <a:xfrm>
            <a:off x="3926958" y="3084237"/>
            <a:ext cx="62282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859A40C-111D-ED65-18FA-CC8459362A40}"/>
              </a:ext>
            </a:extLst>
          </p:cNvPr>
          <p:cNvCxnSpPr>
            <a:cxnSpLocks/>
            <a:stCxn id="2" idx="0"/>
            <a:endCxn id="19" idx="2"/>
          </p:cNvCxnSpPr>
          <p:nvPr/>
        </p:nvCxnSpPr>
        <p:spPr>
          <a:xfrm flipV="1">
            <a:off x="3407261" y="2357771"/>
            <a:ext cx="0" cy="54180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34D0557-E1E1-2E1B-A897-60682072A4F4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5589181" y="3084237"/>
            <a:ext cx="62282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CC706CB-69E9-E9AD-6270-5079248894AE}"/>
              </a:ext>
            </a:extLst>
          </p:cNvPr>
          <p:cNvCxnSpPr>
            <a:cxnSpLocks/>
            <a:stCxn id="4" idx="0"/>
            <a:endCxn id="3" idx="2"/>
          </p:cNvCxnSpPr>
          <p:nvPr/>
        </p:nvCxnSpPr>
        <p:spPr>
          <a:xfrm flipV="1">
            <a:off x="5069484" y="2357771"/>
            <a:ext cx="0" cy="54180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3504DBA-3BB4-1FF3-3625-7D63220C8589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251404" y="3084237"/>
            <a:ext cx="62282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54B40521-5EB2-F5A6-EB19-8A4E1587B84E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V="1">
            <a:off x="6731707" y="2357771"/>
            <a:ext cx="0" cy="54180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BADA3C97-A720-475D-4CA8-647D4E3A0C5A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264735" y="3084237"/>
            <a:ext cx="62282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8F310874-3031-C05D-4DCD-B17A329E8B22}"/>
              </a:ext>
            </a:extLst>
          </p:cNvPr>
          <p:cNvSpPr txBox="1"/>
          <p:nvPr/>
        </p:nvSpPr>
        <p:spPr>
          <a:xfrm>
            <a:off x="4869711" y="3810703"/>
            <a:ext cx="228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 policy function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0C246EF9-3C02-ACF1-CF34-E6EB9C09FF43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5900595" y="3331535"/>
            <a:ext cx="113888" cy="479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71FF71CC-34A7-0F6A-FF0D-94AA761A90E4}"/>
              </a:ext>
            </a:extLst>
          </p:cNvPr>
          <p:cNvSpPr txBox="1"/>
          <p:nvPr/>
        </p:nvSpPr>
        <p:spPr>
          <a:xfrm>
            <a:off x="4593739" y="1249775"/>
            <a:ext cx="300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Consumption policy function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77F48629-72A4-6729-92D0-F4099C66EC5D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5256264" y="1619107"/>
            <a:ext cx="839736" cy="1009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47C2DA7-6526-973E-6EEB-B1C61FEBF554}"/>
                  </a:ext>
                </a:extLst>
              </p:cNvPr>
              <p:cNvSpPr txBox="1"/>
              <p:nvPr/>
            </p:nvSpPr>
            <p:spPr>
              <a:xfrm>
                <a:off x="1339702" y="5285059"/>
                <a:ext cx="1039864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We need to find consumption policy function (blue arrow) and asset policy function (red arrow) </a:t>
                </a:r>
              </a:p>
              <a:p>
                <a:r>
                  <a:rPr lang="en-US" altLang="zh-CN" dirty="0"/>
                  <a:t>That is,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, we need to know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47C2DA7-6526-973E-6EEB-B1C61FEBF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702" y="5285059"/>
                <a:ext cx="10398642" cy="646331"/>
              </a:xfrm>
              <a:prstGeom prst="rect">
                <a:avLst/>
              </a:prstGeom>
              <a:blipFill>
                <a:blip r:embed="rId8"/>
                <a:stretch>
                  <a:fillRect l="-528" t="-5660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1975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F5AB0-8820-B350-CCE4-71DDC6169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95B8FCB-0F64-BAF5-E60F-F04FA623FC06}"/>
                  </a:ext>
                </a:extLst>
              </p:cNvPr>
              <p:cNvSpPr txBox="1"/>
              <p:nvPr/>
            </p:nvSpPr>
            <p:spPr>
              <a:xfrm>
                <a:off x="2887564" y="1988439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𝑒𝑛𝑑𝑜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995B8FCB-0F64-BAF5-E60F-F04FA623F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564" y="1988439"/>
                <a:ext cx="103939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EE1FA1-93DB-8817-C2CC-69FF031BAF1A}"/>
                  </a:ext>
                </a:extLst>
              </p:cNvPr>
              <p:cNvSpPr txBox="1"/>
              <p:nvPr/>
            </p:nvSpPr>
            <p:spPr>
              <a:xfrm>
                <a:off x="2887564" y="2899571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𝑒𝑛𝑑𝑜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8EEE1FA1-93DB-8817-C2CC-69FF031BA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564" y="2899571"/>
                <a:ext cx="103939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6C3DFA9-11EF-29C3-82DA-A9BB3889D17F}"/>
                  </a:ext>
                </a:extLst>
              </p:cNvPr>
              <p:cNvSpPr txBox="1"/>
              <p:nvPr/>
            </p:nvSpPr>
            <p:spPr>
              <a:xfrm>
                <a:off x="4549787" y="1988439"/>
                <a:ext cx="1039394" cy="39190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𝑔𝑢𝑒𝑠𝑠</m:t>
                          </m:r>
                        </m:sub>
                      </m:sSub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6C3DFA9-11EF-29C3-82DA-A9BB3889D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787" y="1988439"/>
                <a:ext cx="1039394" cy="391902"/>
              </a:xfrm>
              <a:prstGeom prst="rect">
                <a:avLst/>
              </a:prstGeom>
              <a:blipFill>
                <a:blip r:embed="rId4"/>
                <a:stretch>
                  <a:fillRect b="-4545"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FC8C55C-1B76-3F71-33E3-A196C922D387}"/>
                  </a:ext>
                </a:extLst>
              </p:cNvPr>
              <p:cNvSpPr txBox="1"/>
              <p:nvPr/>
            </p:nvSpPr>
            <p:spPr>
              <a:xfrm>
                <a:off x="4549787" y="2899571"/>
                <a:ext cx="1039394" cy="39190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𝑔𝑢𝑒𝑠𝑠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FC8C55C-1B76-3F71-33E3-A196C922D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787" y="2899571"/>
                <a:ext cx="1039394" cy="391902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278BB6D-AA73-46A1-B081-5E2EF9A3A850}"/>
                  </a:ext>
                </a:extLst>
              </p:cNvPr>
              <p:cNvSpPr txBox="1"/>
              <p:nvPr/>
            </p:nvSpPr>
            <p:spPr>
              <a:xfrm>
                <a:off x="6212010" y="1988439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B278BB6D-AA73-46A1-B081-5E2EF9A3A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010" y="1988439"/>
                <a:ext cx="103939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2C92E7B-8B8B-9E34-F8A6-70181A564E9D}"/>
                  </a:ext>
                </a:extLst>
              </p:cNvPr>
              <p:cNvSpPr txBox="1"/>
              <p:nvPr/>
            </p:nvSpPr>
            <p:spPr>
              <a:xfrm>
                <a:off x="6212010" y="2899571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2C92E7B-8B8B-9E34-F8A6-70181A564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010" y="2899571"/>
                <a:ext cx="103939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1606F0A-7192-7B8F-8471-8FD935FE2CE1}"/>
              </a:ext>
            </a:extLst>
          </p:cNvPr>
          <p:cNvCxnSpPr>
            <a:stCxn id="2" idx="3"/>
            <a:endCxn id="4" idx="1"/>
          </p:cNvCxnSpPr>
          <p:nvPr/>
        </p:nvCxnSpPr>
        <p:spPr>
          <a:xfrm>
            <a:off x="3926958" y="3084237"/>
            <a:ext cx="622829" cy="1128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F63CB1E-FF67-E40F-C37C-F24A589A37D5}"/>
              </a:ext>
            </a:extLst>
          </p:cNvPr>
          <p:cNvCxnSpPr>
            <a:cxnSpLocks/>
            <a:stCxn id="19" idx="2"/>
            <a:endCxn id="2" idx="0"/>
          </p:cNvCxnSpPr>
          <p:nvPr/>
        </p:nvCxnSpPr>
        <p:spPr>
          <a:xfrm>
            <a:off x="3407261" y="2357771"/>
            <a:ext cx="0" cy="541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8A6A3D3-DAC0-D90A-D5BF-6CD8DA3C474B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5589181" y="3084237"/>
            <a:ext cx="622829" cy="1128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A110F50-214C-6C67-B2A0-25BD5493684D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251404" y="3084237"/>
            <a:ext cx="62282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F4E38F17-994F-551B-558C-94C01E3421F7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flipV="1">
            <a:off x="6731707" y="2357771"/>
            <a:ext cx="0" cy="54180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55B0BC1-B68D-A1DE-9289-8B39FED15469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264735" y="3084237"/>
            <a:ext cx="62282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5A1EDD5E-1942-48A9-3515-91173697D055}"/>
              </a:ext>
            </a:extLst>
          </p:cNvPr>
          <p:cNvSpPr txBox="1"/>
          <p:nvPr/>
        </p:nvSpPr>
        <p:spPr>
          <a:xfrm>
            <a:off x="4938700" y="3660172"/>
            <a:ext cx="228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constraint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8F464845-354D-6C77-64BF-4E3519614006}"/>
              </a:ext>
            </a:extLst>
          </p:cNvPr>
          <p:cNvCxnSpPr>
            <a:cxnSpLocks/>
            <a:stCxn id="32" idx="0"/>
          </p:cNvCxnSpPr>
          <p:nvPr/>
        </p:nvCxnSpPr>
        <p:spPr>
          <a:xfrm flipH="1" flipV="1">
            <a:off x="5121049" y="2629786"/>
            <a:ext cx="962423" cy="1030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7456F6CA-1221-9D0D-E636-1C7D95E65861}"/>
              </a:ext>
            </a:extLst>
          </p:cNvPr>
          <p:cNvSpPr txBox="1"/>
          <p:nvPr/>
        </p:nvSpPr>
        <p:spPr>
          <a:xfrm>
            <a:off x="2584659" y="1284543"/>
            <a:ext cx="300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Euler equation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A0235E7B-FFFA-A32B-1783-EFC8010CF552}"/>
              </a:ext>
            </a:extLst>
          </p:cNvPr>
          <p:cNvCxnSpPr>
            <a:cxnSpLocks/>
            <a:stCxn id="3" idx="1"/>
            <a:endCxn id="19" idx="3"/>
          </p:cNvCxnSpPr>
          <p:nvPr/>
        </p:nvCxnSpPr>
        <p:spPr>
          <a:xfrm flipH="1" flipV="1">
            <a:off x="3926958" y="2173105"/>
            <a:ext cx="622829" cy="112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4177CB4-0015-F9E9-7F5B-84138084A0D2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4086920" y="1653875"/>
            <a:ext cx="73954" cy="334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870B7E0B-786C-25C7-5E90-6BAD5D12E9AD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2367868" y="2507669"/>
            <a:ext cx="780849" cy="193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5C3B9E1F-CC1B-24D7-8A05-56350BFFEC93}"/>
              </a:ext>
            </a:extLst>
          </p:cNvPr>
          <p:cNvSpPr txBox="1"/>
          <p:nvPr/>
        </p:nvSpPr>
        <p:spPr>
          <a:xfrm>
            <a:off x="552893" y="2323003"/>
            <a:ext cx="1814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constraint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1F03E231-11D4-CB86-165A-E7F5AA2CC91D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5069484" y="2380341"/>
            <a:ext cx="0" cy="51923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980C631B-EF03-7688-40EE-558961ED7583}"/>
                  </a:ext>
                </a:extLst>
              </p:cNvPr>
              <p:cNvSpPr txBox="1"/>
              <p:nvPr/>
            </p:nvSpPr>
            <p:spPr>
              <a:xfrm>
                <a:off x="836428" y="5111792"/>
                <a:ext cx="1143354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We have a guess value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altLang="zh-CN" dirty="0"/>
                  <a:t> Or a guess value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, they are connected by budget constraint.</a:t>
                </a:r>
              </a:p>
              <a:p>
                <a:r>
                  <a:rPr lang="en-US" altLang="zh-CN" dirty="0"/>
                  <a:t>With Euler equation, we solve for an endogenous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𝑒𝑛𝑑𝑜</m:t>
                        </m:r>
                      </m:sub>
                    </m:sSub>
                    <m:r>
                      <a:rPr lang="en-US" altLang="zh-CN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altLang="zh-CN" dirty="0"/>
                  <a:t> And with budget constraint, 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𝑒𝑛𝑑𝑜</m:t>
                        </m:r>
                      </m:sub>
                    </m:sSub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The calculation is in the black arrows.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980C631B-EF03-7688-40EE-558961ED7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428" y="5111792"/>
                <a:ext cx="11433544" cy="923330"/>
              </a:xfrm>
              <a:prstGeom prst="rect">
                <a:avLst/>
              </a:prstGeom>
              <a:blipFill>
                <a:blip r:embed="rId8"/>
                <a:stretch>
                  <a:fillRect l="-426" t="-3974" b="-9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545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1CAE8-67B8-0A6F-44BF-6CD048947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F5890A6-2E91-811A-2916-2AFBC8921385}"/>
                  </a:ext>
                </a:extLst>
              </p:cNvPr>
              <p:cNvSpPr txBox="1"/>
              <p:nvPr/>
            </p:nvSpPr>
            <p:spPr>
              <a:xfrm>
                <a:off x="2887564" y="1988439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𝑒𝑛𝑑𝑜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F5890A6-2E91-811A-2916-2AFBC8921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564" y="1988439"/>
                <a:ext cx="103939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79C01B4-B667-CC5F-99BE-1C6B117C230E}"/>
                  </a:ext>
                </a:extLst>
              </p:cNvPr>
              <p:cNvSpPr txBox="1"/>
              <p:nvPr/>
            </p:nvSpPr>
            <p:spPr>
              <a:xfrm>
                <a:off x="2887564" y="2899571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𝑒𝑛𝑑𝑜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579C01B4-B667-CC5F-99BE-1C6B117C2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564" y="2899571"/>
                <a:ext cx="103939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2ACF371-3792-EE5E-F66A-4E258FB7981B}"/>
                  </a:ext>
                </a:extLst>
              </p:cNvPr>
              <p:cNvSpPr txBox="1"/>
              <p:nvPr/>
            </p:nvSpPr>
            <p:spPr>
              <a:xfrm>
                <a:off x="4549787" y="1988439"/>
                <a:ext cx="1039394" cy="39190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𝑔𝑢𝑒𝑠𝑠</m:t>
                          </m:r>
                        </m:sub>
                      </m:sSub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2ACF371-3792-EE5E-F66A-4E258FB79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787" y="1988439"/>
                <a:ext cx="1039394" cy="391902"/>
              </a:xfrm>
              <a:prstGeom prst="rect">
                <a:avLst/>
              </a:prstGeom>
              <a:blipFill>
                <a:blip r:embed="rId4"/>
                <a:stretch>
                  <a:fillRect b="-4545"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C24FA71-B9C0-95B3-70E0-73EAC0166713}"/>
                  </a:ext>
                </a:extLst>
              </p:cNvPr>
              <p:cNvSpPr txBox="1"/>
              <p:nvPr/>
            </p:nvSpPr>
            <p:spPr>
              <a:xfrm>
                <a:off x="4549787" y="2899571"/>
                <a:ext cx="1039394" cy="39190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𝑔𝑢𝑒𝑠𝑠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C24FA71-B9C0-95B3-70E0-73EAC0166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787" y="2899571"/>
                <a:ext cx="1039394" cy="391902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AAEDECA-AE4A-3937-9B99-C101F2AD4520}"/>
                  </a:ext>
                </a:extLst>
              </p:cNvPr>
              <p:cNvSpPr txBox="1"/>
              <p:nvPr/>
            </p:nvSpPr>
            <p:spPr>
              <a:xfrm>
                <a:off x="6212010" y="1988439"/>
                <a:ext cx="1039394" cy="39190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𝑔𝑢𝑒𝑠𝑠</m:t>
                          </m:r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𝑛𝑒𝑤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AAEDECA-AE4A-3937-9B99-C101F2AD4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010" y="1988439"/>
                <a:ext cx="1039394" cy="391902"/>
              </a:xfrm>
              <a:prstGeom prst="rect">
                <a:avLst/>
              </a:prstGeom>
              <a:blipFill>
                <a:blip r:embed="rId6"/>
                <a:stretch>
                  <a:fillRect l="-8092" b="-4545"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DAE0B0F-6E32-CA54-6977-D6DE2F216316}"/>
                  </a:ext>
                </a:extLst>
              </p:cNvPr>
              <p:cNvSpPr txBox="1"/>
              <p:nvPr/>
            </p:nvSpPr>
            <p:spPr>
              <a:xfrm>
                <a:off x="6212010" y="2899571"/>
                <a:ext cx="1039394" cy="39190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𝑔𝑢𝑒𝑠𝑠</m:t>
                          </m:r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𝑛𝑒𝑤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1DAE0B0F-6E32-CA54-6977-D6DE2F216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010" y="2899571"/>
                <a:ext cx="1039394" cy="391902"/>
              </a:xfrm>
              <a:prstGeom prst="rect">
                <a:avLst/>
              </a:prstGeom>
              <a:blipFill>
                <a:blip r:embed="rId7"/>
                <a:stretch>
                  <a:fillRect l="-9249" b="-4545"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92938E5-A6D0-6294-C944-BED763B01D01}"/>
              </a:ext>
            </a:extLst>
          </p:cNvPr>
          <p:cNvCxnSpPr>
            <a:stCxn id="2" idx="3"/>
            <a:endCxn id="4" idx="1"/>
          </p:cNvCxnSpPr>
          <p:nvPr/>
        </p:nvCxnSpPr>
        <p:spPr>
          <a:xfrm>
            <a:off x="3926958" y="3084237"/>
            <a:ext cx="622829" cy="11285"/>
          </a:xfrm>
          <a:prstGeom prst="straightConnector1">
            <a:avLst/>
          </a:prstGeom>
          <a:ln w="28575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6708B1D-0EA1-F6DF-7453-0CA8A4723186}"/>
              </a:ext>
            </a:extLst>
          </p:cNvPr>
          <p:cNvCxnSpPr>
            <a:cxnSpLocks/>
            <a:stCxn id="19" idx="2"/>
            <a:endCxn id="2" idx="0"/>
          </p:cNvCxnSpPr>
          <p:nvPr/>
        </p:nvCxnSpPr>
        <p:spPr>
          <a:xfrm>
            <a:off x="3407261" y="2357771"/>
            <a:ext cx="0" cy="541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0A8C6DE-1C4F-1E26-A77C-3D7A1605786C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5589181" y="3095522"/>
            <a:ext cx="622829" cy="0"/>
          </a:xfrm>
          <a:prstGeom prst="straightConnector1">
            <a:avLst/>
          </a:prstGeom>
          <a:ln w="28575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4938C50C-4992-031D-9120-29A5B7BD8B38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7251404" y="3084237"/>
            <a:ext cx="622829" cy="1128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19BA486E-630F-7EAA-DA5B-8D7EC89C84FA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264735" y="3084237"/>
            <a:ext cx="62282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E2F1518F-881D-1F94-8BD3-63087F6336FB}"/>
              </a:ext>
            </a:extLst>
          </p:cNvPr>
          <p:cNvSpPr txBox="1"/>
          <p:nvPr/>
        </p:nvSpPr>
        <p:spPr>
          <a:xfrm>
            <a:off x="3986262" y="4373128"/>
            <a:ext cx="228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B33E612B-8731-29C7-E129-54F64CA4F6BA}"/>
              </a:ext>
            </a:extLst>
          </p:cNvPr>
          <p:cNvCxnSpPr>
            <a:cxnSpLocks/>
            <a:stCxn id="3" idx="1"/>
            <a:endCxn id="19" idx="3"/>
          </p:cNvCxnSpPr>
          <p:nvPr/>
        </p:nvCxnSpPr>
        <p:spPr>
          <a:xfrm flipH="1" flipV="1">
            <a:off x="3926958" y="2173105"/>
            <a:ext cx="622829" cy="112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03CD8B57-2DE9-B689-17BA-EA5CDE9D0514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5069484" y="2380341"/>
            <a:ext cx="0" cy="51923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4E8A658A-43CE-0ACC-E54F-10F95F140307}"/>
                  </a:ext>
                </a:extLst>
              </p:cNvPr>
              <p:cNvSpPr txBox="1"/>
              <p:nvPr/>
            </p:nvSpPr>
            <p:spPr>
              <a:xfrm>
                <a:off x="836428" y="5111792"/>
                <a:ext cx="9767777" cy="968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Now we have relation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1800" b="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𝑒𝑛𝑑𝑜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𝑔𝑢𝑒𝑠𝑠</m:t>
                        </m:r>
                      </m:sub>
                    </m:sSub>
                  </m:oMath>
                </a14:m>
                <a:r>
                  <a:rPr lang="en-US" altLang="zh-CN" dirty="0"/>
                  <a:t>. We can get a new guess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𝑔𝑢𝑒𝑠𝑠</m:t>
                        </m:r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en-US" altLang="zh-CN" dirty="0"/>
                  <a:t> with this relation using interpolation, and a new guess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𝑔𝑢𝑒𝑠𝑠</m:t>
                        </m:r>
                        <m:r>
                          <a:rPr lang="en-US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by budget constraint.</a:t>
                </a:r>
              </a:p>
              <a:p>
                <a:r>
                  <a:rPr lang="en-US" altLang="zh-CN" dirty="0"/>
                  <a:t>Then iterate, until two guess values are close enough. 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4E8A658A-43CE-0ACC-E54F-10F95F140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428" y="5111792"/>
                <a:ext cx="9767777" cy="968470"/>
              </a:xfrm>
              <a:prstGeom prst="rect">
                <a:avLst/>
              </a:prstGeom>
              <a:blipFill>
                <a:blip r:embed="rId8"/>
                <a:stretch>
                  <a:fillRect l="-499" t="-3165" b="-94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F99677E4-4C81-FAE6-BE2C-2FEBB350B205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6731707" y="2380341"/>
            <a:ext cx="0" cy="51923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左大括号 50">
            <a:extLst>
              <a:ext uri="{FF2B5EF4-FFF2-40B4-BE49-F238E27FC236}">
                <a16:creationId xmlns:a16="http://schemas.microsoft.com/office/drawing/2014/main" id="{5298AB21-DA0A-6D80-2D73-A069BB1FFA41}"/>
              </a:ext>
            </a:extLst>
          </p:cNvPr>
          <p:cNvSpPr/>
          <p:nvPr/>
        </p:nvSpPr>
        <p:spPr>
          <a:xfrm rot="16200000">
            <a:off x="3948120" y="3015396"/>
            <a:ext cx="429681" cy="1328449"/>
          </a:xfrm>
          <a:prstGeom prst="leftBrace">
            <a:avLst>
              <a:gd name="adj1" fmla="val 8333"/>
              <a:gd name="adj2" fmla="val 47865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左大括号 51">
            <a:extLst>
              <a:ext uri="{FF2B5EF4-FFF2-40B4-BE49-F238E27FC236}">
                <a16:creationId xmlns:a16="http://schemas.microsoft.com/office/drawing/2014/main" id="{D1360568-17A6-76EA-F802-196BDF8B4FA2}"/>
              </a:ext>
            </a:extLst>
          </p:cNvPr>
          <p:cNvSpPr/>
          <p:nvPr/>
        </p:nvSpPr>
        <p:spPr>
          <a:xfrm rot="16200000">
            <a:off x="5801730" y="3004110"/>
            <a:ext cx="429681" cy="1328449"/>
          </a:xfrm>
          <a:prstGeom prst="leftBrace">
            <a:avLst>
              <a:gd name="adj1" fmla="val 8333"/>
              <a:gd name="adj2" fmla="val 47865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3" name="连接符: 肘形 62">
            <a:extLst>
              <a:ext uri="{FF2B5EF4-FFF2-40B4-BE49-F238E27FC236}">
                <a16:creationId xmlns:a16="http://schemas.microsoft.com/office/drawing/2014/main" id="{8E550844-953C-0612-94E9-8D844503DEFB}"/>
              </a:ext>
            </a:extLst>
          </p:cNvPr>
          <p:cNvCxnSpPr>
            <a:cxnSpLocks/>
            <a:stCxn id="51" idx="1"/>
            <a:endCxn id="32" idx="0"/>
          </p:cNvCxnSpPr>
          <p:nvPr/>
        </p:nvCxnSpPr>
        <p:spPr>
          <a:xfrm rot="16200000" flipH="1">
            <a:off x="4393483" y="3635576"/>
            <a:ext cx="478667" cy="996436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FDBAD510-7649-6996-93F4-5F475D0F8700}"/>
              </a:ext>
            </a:extLst>
          </p:cNvPr>
          <p:cNvCxnSpPr>
            <a:cxnSpLocks/>
            <a:stCxn id="52" idx="1"/>
            <a:endCxn id="32" idx="0"/>
          </p:cNvCxnSpPr>
          <p:nvPr/>
        </p:nvCxnSpPr>
        <p:spPr>
          <a:xfrm rot="5400000">
            <a:off x="5314645" y="3699564"/>
            <a:ext cx="489953" cy="85717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078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0F8F1-016A-A514-E620-A045717B2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293C84A-E03A-3E24-C20E-AF5FCB5A8C5B}"/>
                  </a:ext>
                </a:extLst>
              </p:cNvPr>
              <p:cNvSpPr txBox="1"/>
              <p:nvPr/>
            </p:nvSpPr>
            <p:spPr>
              <a:xfrm>
                <a:off x="2887564" y="1988439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𝑒𝑛𝑑𝑜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3293C84A-E03A-3E24-C20E-AF5FCB5A8C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564" y="1988439"/>
                <a:ext cx="103939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B6ACC50-550C-32FF-69AB-F28B42196A6E}"/>
                  </a:ext>
                </a:extLst>
              </p:cNvPr>
              <p:cNvSpPr txBox="1"/>
              <p:nvPr/>
            </p:nvSpPr>
            <p:spPr>
              <a:xfrm>
                <a:off x="2887564" y="2899571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𝑒𝑛𝑑𝑜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FB6ACC50-550C-32FF-69AB-F28B42196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564" y="2899571"/>
                <a:ext cx="103939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51FA88A-CC17-885B-7E2D-539289F0FDD8}"/>
                  </a:ext>
                </a:extLst>
              </p:cNvPr>
              <p:cNvSpPr txBox="1"/>
              <p:nvPr/>
            </p:nvSpPr>
            <p:spPr>
              <a:xfrm>
                <a:off x="4549787" y="1988439"/>
                <a:ext cx="1039394" cy="39190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𝑔𝑢𝑒𝑠𝑠</m:t>
                          </m:r>
                        </m:sub>
                      </m:sSub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51FA88A-CC17-885B-7E2D-539289F0F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787" y="1988439"/>
                <a:ext cx="1039394" cy="391902"/>
              </a:xfrm>
              <a:prstGeom prst="rect">
                <a:avLst/>
              </a:prstGeom>
              <a:blipFill>
                <a:blip r:embed="rId4"/>
                <a:stretch>
                  <a:fillRect b="-4545"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F884BB3-37D6-5F9B-030E-D0DACD5301FA}"/>
                  </a:ext>
                </a:extLst>
              </p:cNvPr>
              <p:cNvSpPr txBox="1"/>
              <p:nvPr/>
            </p:nvSpPr>
            <p:spPr>
              <a:xfrm>
                <a:off x="4549787" y="2899571"/>
                <a:ext cx="1039394" cy="39190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𝑔𝑢𝑒𝑠𝑠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F884BB3-37D6-5F9B-030E-D0DACD530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787" y="2899571"/>
                <a:ext cx="1039394" cy="391902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3E5ACDC-2058-6235-8186-BFEE5DAF3664}"/>
                  </a:ext>
                </a:extLst>
              </p:cNvPr>
              <p:cNvSpPr txBox="1"/>
              <p:nvPr/>
            </p:nvSpPr>
            <p:spPr>
              <a:xfrm>
                <a:off x="6212010" y="1988439"/>
                <a:ext cx="1039394" cy="39190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𝑔𝑢𝑒𝑠𝑠</m:t>
                          </m:r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𝑛𝑒𝑤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3E5ACDC-2058-6235-8186-BFEE5DAF3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010" y="1988439"/>
                <a:ext cx="1039394" cy="391902"/>
              </a:xfrm>
              <a:prstGeom prst="rect">
                <a:avLst/>
              </a:prstGeom>
              <a:blipFill>
                <a:blip r:embed="rId6"/>
                <a:stretch>
                  <a:fillRect l="-8092" b="-4545"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84622E6-8967-64B4-7020-52123335A246}"/>
                  </a:ext>
                </a:extLst>
              </p:cNvPr>
              <p:cNvSpPr txBox="1"/>
              <p:nvPr/>
            </p:nvSpPr>
            <p:spPr>
              <a:xfrm>
                <a:off x="6212010" y="2899571"/>
                <a:ext cx="1039394" cy="39190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𝑔𝑢𝑒𝑠𝑠</m:t>
                          </m:r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_</m:t>
                          </m:r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𝑛𝑒𝑤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784622E6-8967-64B4-7020-52123335A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010" y="2899571"/>
                <a:ext cx="1039394" cy="391902"/>
              </a:xfrm>
              <a:prstGeom prst="rect">
                <a:avLst/>
              </a:prstGeom>
              <a:blipFill>
                <a:blip r:embed="rId7"/>
                <a:stretch>
                  <a:fillRect l="-9249" b="-4545"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B13E6D9-E013-9FDB-913F-A77465A93EE6}"/>
              </a:ext>
            </a:extLst>
          </p:cNvPr>
          <p:cNvCxnSpPr>
            <a:stCxn id="2" idx="3"/>
            <a:endCxn id="4" idx="1"/>
          </p:cNvCxnSpPr>
          <p:nvPr/>
        </p:nvCxnSpPr>
        <p:spPr>
          <a:xfrm>
            <a:off x="3926958" y="3084237"/>
            <a:ext cx="622829" cy="1128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72F3670-E5C9-1573-E9C7-34267CA35685}"/>
              </a:ext>
            </a:extLst>
          </p:cNvPr>
          <p:cNvCxnSpPr>
            <a:cxnSpLocks/>
            <a:stCxn id="19" idx="2"/>
            <a:endCxn id="2" idx="0"/>
          </p:cNvCxnSpPr>
          <p:nvPr/>
        </p:nvCxnSpPr>
        <p:spPr>
          <a:xfrm>
            <a:off x="3407261" y="2357771"/>
            <a:ext cx="0" cy="541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893D56F-7072-BD60-3B09-8955ACC743D7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5589181" y="3095522"/>
            <a:ext cx="62282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34F03034-C713-768F-8A1B-5E38CFE4CA62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7251404" y="3084237"/>
            <a:ext cx="622829" cy="1128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1916B64E-1E68-E025-A7E6-F4BA2B256346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264735" y="3084237"/>
            <a:ext cx="62282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4FC9C01-6D84-7A28-8D4D-E5A03D1946D9}"/>
              </a:ext>
            </a:extLst>
          </p:cNvPr>
          <p:cNvCxnSpPr>
            <a:cxnSpLocks/>
            <a:stCxn id="3" idx="1"/>
            <a:endCxn id="19" idx="3"/>
          </p:cNvCxnSpPr>
          <p:nvPr/>
        </p:nvCxnSpPr>
        <p:spPr>
          <a:xfrm flipH="1" flipV="1">
            <a:off x="3926958" y="2173105"/>
            <a:ext cx="622829" cy="112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B36436BC-37E0-D7CF-81F2-94C88E2AED3B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5069484" y="2380341"/>
            <a:ext cx="0" cy="51923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61805FC8-8C29-FF1A-B66B-5726B72DD20B}"/>
                  </a:ext>
                </a:extLst>
              </p:cNvPr>
              <p:cNvSpPr txBox="1"/>
              <p:nvPr/>
            </p:nvSpPr>
            <p:spPr>
              <a:xfrm>
                <a:off x="878958" y="4651048"/>
                <a:ext cx="9590567" cy="12454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Sometimes, people interpolate the consumption function. </a:t>
                </a:r>
              </a:p>
              <a:p>
                <a:r>
                  <a:rPr lang="en-US" altLang="zh-CN" dirty="0"/>
                  <a:t>Using the relation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800" b="0" i="1" kern="100" smtClean="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𝑒𝑛𝑑𝑜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𝑒𝑛𝑑𝑜</m:t>
                        </m:r>
                      </m:sub>
                    </m:sSub>
                  </m:oMath>
                </a14:m>
                <a:r>
                  <a:rPr lang="en-US" altLang="zh-CN" dirty="0"/>
                  <a:t>, we can get a new guess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𝑔𝑢𝑒𝑠𝑠</m:t>
                        </m:r>
                        <m:r>
                          <a:rPr lang="en-US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starting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𝑔𝑢𝑒𝑠𝑠</m:t>
                        </m:r>
                      </m:sub>
                    </m:sSub>
                  </m:oMath>
                </a14:m>
                <a:r>
                  <a:rPr lang="en-US" altLang="zh-CN" dirty="0"/>
                  <a:t>, and then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𝑔𝑢𝑒𝑠𝑠</m:t>
                        </m:r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_</m:t>
                        </m:r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𝑛𝑒𝑤</m:t>
                        </m:r>
                      </m:sub>
                    </m:sSub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by budget constraint. </a:t>
                </a:r>
              </a:p>
              <a:p>
                <a:r>
                  <a:rPr lang="en-US" altLang="zh-CN" dirty="0"/>
                  <a:t>Then iterate, until new guess values are close enough.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61805FC8-8C29-FF1A-B66B-5726B72DD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958" y="4651048"/>
                <a:ext cx="9590567" cy="1245469"/>
              </a:xfrm>
              <a:prstGeom prst="rect">
                <a:avLst/>
              </a:prstGeom>
              <a:blipFill>
                <a:blip r:embed="rId8"/>
                <a:stretch>
                  <a:fillRect l="-509" t="-2941" b="-68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C8729AD-5E1E-5A20-305E-7479EFB5A25D}"/>
              </a:ext>
            </a:extLst>
          </p:cNvPr>
          <p:cNvCxnSpPr>
            <a:cxnSpLocks/>
          </p:cNvCxnSpPr>
          <p:nvPr/>
        </p:nvCxnSpPr>
        <p:spPr>
          <a:xfrm flipV="1">
            <a:off x="3644721" y="2358886"/>
            <a:ext cx="0" cy="541800"/>
          </a:xfrm>
          <a:prstGeom prst="straightConnector1">
            <a:avLst/>
          </a:prstGeom>
          <a:ln w="28575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1F1DFBD-FEDE-94CA-12A2-55C7FDEC399D}"/>
              </a:ext>
            </a:extLst>
          </p:cNvPr>
          <p:cNvCxnSpPr>
            <a:cxnSpLocks/>
          </p:cNvCxnSpPr>
          <p:nvPr/>
        </p:nvCxnSpPr>
        <p:spPr>
          <a:xfrm flipV="1">
            <a:off x="5299856" y="2380341"/>
            <a:ext cx="1274609" cy="502624"/>
          </a:xfrm>
          <a:prstGeom prst="straightConnector1">
            <a:avLst/>
          </a:prstGeom>
          <a:ln w="28575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97EE2EB7-DD19-E422-DC19-210683E9A2DC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6731707" y="2380341"/>
            <a:ext cx="0" cy="51923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D8325756-4496-ACAB-B531-128107756AD4}"/>
              </a:ext>
            </a:extLst>
          </p:cNvPr>
          <p:cNvSpPr txBox="1"/>
          <p:nvPr/>
        </p:nvSpPr>
        <p:spPr>
          <a:xfrm>
            <a:off x="3922466" y="3889814"/>
            <a:ext cx="228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Interpolation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左大括号 23">
            <a:extLst>
              <a:ext uri="{FF2B5EF4-FFF2-40B4-BE49-F238E27FC236}">
                <a16:creationId xmlns:a16="http://schemas.microsoft.com/office/drawing/2014/main" id="{D38B574B-4C90-AFD2-88D7-5CC580CF91B3}"/>
              </a:ext>
            </a:extLst>
          </p:cNvPr>
          <p:cNvSpPr/>
          <p:nvPr/>
        </p:nvSpPr>
        <p:spPr>
          <a:xfrm rot="10800000">
            <a:off x="3701544" y="2414651"/>
            <a:ext cx="226395" cy="519231"/>
          </a:xfrm>
          <a:prstGeom prst="leftBrace">
            <a:avLst>
              <a:gd name="adj1" fmla="val 8333"/>
              <a:gd name="adj2" fmla="val 47865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左大括号 25">
            <a:extLst>
              <a:ext uri="{FF2B5EF4-FFF2-40B4-BE49-F238E27FC236}">
                <a16:creationId xmlns:a16="http://schemas.microsoft.com/office/drawing/2014/main" id="{E40C0DC7-EE3A-E75F-7561-13CDF145CAD7}"/>
              </a:ext>
            </a:extLst>
          </p:cNvPr>
          <p:cNvSpPr/>
          <p:nvPr/>
        </p:nvSpPr>
        <p:spPr>
          <a:xfrm rot="14749843">
            <a:off x="5847763" y="2180578"/>
            <a:ext cx="264457" cy="1328449"/>
          </a:xfrm>
          <a:prstGeom prst="leftBrace">
            <a:avLst>
              <a:gd name="adj1" fmla="val 8333"/>
              <a:gd name="adj2" fmla="val 47865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746E7531-D575-57B9-503A-494D6FAC0084}"/>
              </a:ext>
            </a:extLst>
          </p:cNvPr>
          <p:cNvCxnSpPr>
            <a:cxnSpLocks/>
            <a:stCxn id="24" idx="1"/>
            <a:endCxn id="21" idx="0"/>
          </p:cNvCxnSpPr>
          <p:nvPr/>
        </p:nvCxnSpPr>
        <p:spPr>
          <a:xfrm>
            <a:off x="3927939" y="2685352"/>
            <a:ext cx="1139299" cy="12044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F169AC64-2EE9-3E67-88E3-AE8D85E3D72A}"/>
              </a:ext>
            </a:extLst>
          </p:cNvPr>
          <p:cNvCxnSpPr>
            <a:cxnSpLocks/>
            <a:stCxn id="26" idx="1"/>
            <a:endCxn id="21" idx="0"/>
          </p:cNvCxnSpPr>
          <p:nvPr/>
        </p:nvCxnSpPr>
        <p:spPr>
          <a:xfrm flipH="1">
            <a:off x="5067238" y="2977052"/>
            <a:ext cx="941016" cy="9127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102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A0A58-EC78-03DD-6601-9A2479681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F7283E89-A7B4-7731-D6FB-9BD9FF18DCFC}"/>
                  </a:ext>
                </a:extLst>
              </p:cNvPr>
              <p:cNvSpPr txBox="1"/>
              <p:nvPr/>
            </p:nvSpPr>
            <p:spPr>
              <a:xfrm>
                <a:off x="2887564" y="1988439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F7283E89-A7B4-7731-D6FB-9BD9FF18D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564" y="1988439"/>
                <a:ext cx="103939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9A1D53F-A11F-7FFF-0554-4209115EF78B}"/>
                  </a:ext>
                </a:extLst>
              </p:cNvPr>
              <p:cNvSpPr txBox="1"/>
              <p:nvPr/>
            </p:nvSpPr>
            <p:spPr>
              <a:xfrm>
                <a:off x="2887564" y="2899571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09A1D53F-A11F-7FFF-0554-4209115EF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564" y="2899571"/>
                <a:ext cx="103939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D29B54D-559A-3012-8EA4-911BB4EC9D86}"/>
                  </a:ext>
                </a:extLst>
              </p:cNvPr>
              <p:cNvSpPr txBox="1"/>
              <p:nvPr/>
            </p:nvSpPr>
            <p:spPr>
              <a:xfrm>
                <a:off x="4549787" y="1988439"/>
                <a:ext cx="1039394" cy="39190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𝑔𝑢𝑒𝑠𝑠</m:t>
                          </m:r>
                        </m:sub>
                      </m:sSub>
                    </m:oMath>
                  </m:oMathPara>
                </a14:m>
                <a:endParaRPr lang="zh-CN" altLang="zh-CN" sz="18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D29B54D-559A-3012-8EA4-911BB4EC9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787" y="1988439"/>
                <a:ext cx="1039394" cy="391902"/>
              </a:xfrm>
              <a:prstGeom prst="rect">
                <a:avLst/>
              </a:prstGeom>
              <a:blipFill>
                <a:blip r:embed="rId4"/>
                <a:stretch>
                  <a:fillRect b="-4545"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012FDFB-EFE9-7976-A878-3449ECC83064}"/>
                  </a:ext>
                </a:extLst>
              </p:cNvPr>
              <p:cNvSpPr txBox="1"/>
              <p:nvPr/>
            </p:nvSpPr>
            <p:spPr>
              <a:xfrm>
                <a:off x="4549787" y="2899571"/>
                <a:ext cx="1039394" cy="39190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𝑔𝑢𝑒𝑠𝑠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4012FDFB-EFE9-7976-A878-3449ECC83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9787" y="2899571"/>
                <a:ext cx="1039394" cy="391902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35A2254-5A2F-21B5-213C-E609AFF862D4}"/>
                  </a:ext>
                </a:extLst>
              </p:cNvPr>
              <p:cNvSpPr txBox="1"/>
              <p:nvPr/>
            </p:nvSpPr>
            <p:spPr>
              <a:xfrm>
                <a:off x="6212010" y="1988439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kern="10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𝑒𝑛𝑑𝑜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35A2254-5A2F-21B5-213C-E609AFF86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010" y="1988439"/>
                <a:ext cx="103939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158F356-E426-245D-BB4B-CB0ECD8B423B}"/>
                  </a:ext>
                </a:extLst>
              </p:cNvPr>
              <p:cNvSpPr txBox="1"/>
              <p:nvPr/>
            </p:nvSpPr>
            <p:spPr>
              <a:xfrm>
                <a:off x="6212010" y="2899571"/>
                <a:ext cx="1039394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800" b="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𝑒𝑛𝑑𝑜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158F356-E426-245D-BB4B-CB0ECD8B4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010" y="2899571"/>
                <a:ext cx="103939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8754525-7581-4E54-E942-9FB5AE518A0E}"/>
              </a:ext>
            </a:extLst>
          </p:cNvPr>
          <p:cNvCxnSpPr>
            <a:stCxn id="2" idx="3"/>
            <a:endCxn id="4" idx="1"/>
          </p:cNvCxnSpPr>
          <p:nvPr/>
        </p:nvCxnSpPr>
        <p:spPr>
          <a:xfrm>
            <a:off x="3926958" y="3084237"/>
            <a:ext cx="622829" cy="1128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1152460-3146-2093-0F59-3014AAFC2EB1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5589181" y="3084237"/>
            <a:ext cx="622829" cy="1128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9C8847A-F69E-EDE1-2C0A-CCA96B5CE5E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251404" y="3084237"/>
            <a:ext cx="62282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630CD96-C483-F925-B0EF-68AA156EFD5B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2264735" y="3084237"/>
            <a:ext cx="622829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25DA53ED-43D7-918C-EC03-94AA6C853A34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5589181" y="2173105"/>
            <a:ext cx="622829" cy="112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C3448268-DFA3-2185-AA00-7080E50DDF9D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5069484" y="2380341"/>
            <a:ext cx="0" cy="51923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9333B55-8B9A-5C0B-484D-454B9CA816DB}"/>
                  </a:ext>
                </a:extLst>
              </p:cNvPr>
              <p:cNvSpPr txBox="1"/>
              <p:nvPr/>
            </p:nvSpPr>
            <p:spPr>
              <a:xfrm>
                <a:off x="836428" y="5111792"/>
                <a:ext cx="1143354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You may ask why we use backward induction, why not forward induction like in the graph. </a:t>
                </a:r>
              </a:p>
              <a:p>
                <a:r>
                  <a:rPr lang="en-US" altLang="zh-CN" dirty="0"/>
                  <a:t>The main reason is that,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kern="10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800" b="0" i="1" kern="100" smtClean="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𝑒𝑛𝑑𝑜</m:t>
                        </m:r>
                      </m:sub>
                    </m:sSub>
                  </m:oMath>
                </a14:m>
                <a:r>
                  <a:rPr lang="en-US" altLang="zh-CN" dirty="0"/>
                  <a:t> can be written explicitly in backward induction, which is computationally fast. </a:t>
                </a:r>
              </a:p>
              <a:p>
                <a:r>
                  <a:rPr lang="en-US" altLang="zh-CN" dirty="0"/>
                  <a:t>If we use forward induction, we still need to solve a </a:t>
                </a:r>
                <a:r>
                  <a:rPr lang="en-US" altLang="zh-CN"/>
                  <a:t>nonlinear function. 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9333B55-8B9A-5C0B-484D-454B9CA81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428" y="5111792"/>
                <a:ext cx="11433544" cy="923330"/>
              </a:xfrm>
              <a:prstGeom prst="rect">
                <a:avLst/>
              </a:prstGeom>
              <a:blipFill>
                <a:blip r:embed="rId8"/>
                <a:stretch>
                  <a:fillRect l="-426" t="-3974" b="-99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1A99D4C-CC9C-B5E7-5020-67C4609FC183}"/>
              </a:ext>
            </a:extLst>
          </p:cNvPr>
          <p:cNvCxnSpPr>
            <a:cxnSpLocks/>
            <a:stCxn id="2" idx="0"/>
            <a:endCxn id="19" idx="2"/>
          </p:cNvCxnSpPr>
          <p:nvPr/>
        </p:nvCxnSpPr>
        <p:spPr>
          <a:xfrm flipV="1">
            <a:off x="3407261" y="2357771"/>
            <a:ext cx="0" cy="54180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3FC2B32-A120-2C2A-F98E-7E8FFA3AD7CC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6731707" y="2357771"/>
            <a:ext cx="0" cy="5418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10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9037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2882C-80E8-1316-681A-96A171EB8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9206DF0-4840-306E-3053-FCBFF9EFC99D}"/>
                  </a:ext>
                </a:extLst>
              </p:cNvPr>
              <p:cNvSpPr txBox="1"/>
              <p:nvPr/>
            </p:nvSpPr>
            <p:spPr>
              <a:xfrm>
                <a:off x="4157051" y="2527309"/>
                <a:ext cx="4044287" cy="110799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𝐸𝑛𝑑𝑜𝑔𝑒𝑛𝑜𝑢𝑠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𝐺𝑟𝑖𝑑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𝑀𝑒𝑡h𝑜𝑑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&amp;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𝐼𝑡𝑒𝑟𝑎𝑡𝑖𝑜𝑛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1600" b="0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𝑏𝑎𝑠𝑒𝑑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𝑜𝑛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altLang="zh-CN" sz="1600" b="0" i="1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𝑎𝑛𝑑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𝑤𝑎𝑔𝑒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altLang="zh-CN" sz="1600" b="0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𝑡𝑜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𝑔𝑒𝑡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𝑝𝑜𝑙𝑖𝑐𝑦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1600" b="0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𝑓𝑢𝑛𝑐𝑡𝑖𝑜𝑛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9206DF0-4840-306E-3053-FCBFF9EFC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051" y="2527309"/>
                <a:ext cx="4044287" cy="1107996"/>
              </a:xfrm>
              <a:prstGeom prst="rect">
                <a:avLst/>
              </a:prstGeom>
              <a:blipFill>
                <a:blip r:embed="rId2"/>
                <a:stretch>
                  <a:fillRect b="-1639"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62D7519-67F4-BEB3-6DB9-9D99E94CBC19}"/>
                  </a:ext>
                </a:extLst>
              </p:cNvPr>
              <p:cNvSpPr txBox="1"/>
              <p:nvPr/>
            </p:nvSpPr>
            <p:spPr>
              <a:xfrm>
                <a:off x="3414627" y="5801774"/>
                <a:ext cx="4775532" cy="36933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𝑊</m:t>
                      </m:r>
                      <m:r>
                        <a:rPr lang="en-US" altLang="zh-CN" sz="1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h𝑒𝑡𝑒𝑟</m:t>
                      </m:r>
                      <m:r>
                        <a:rPr lang="en-US" altLang="zh-CN" sz="1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altLang="zh-CN" sz="1800" b="0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800" b="1" i="1" kern="100" smtClean="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𝒄𝒐𝒏𝒗𝒆𝒓𝒈𝒆</m:t>
                      </m:r>
                    </m:oMath>
                  </m:oMathPara>
                </a14:m>
                <a:endParaRPr lang="zh-CN" altLang="en-US" b="1" dirty="0"/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D62D7519-67F4-BEB3-6DB9-9D99E94CB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627" y="5801774"/>
                <a:ext cx="4775532" cy="369332"/>
              </a:xfrm>
              <a:prstGeom prst="rect">
                <a:avLst/>
              </a:prstGeom>
              <a:blipFill>
                <a:blip r:embed="rId3"/>
                <a:stretch>
                  <a:fillRect b="-4839"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9E31AF11-E8DE-D4AB-DBEF-29754FECA5C2}"/>
              </a:ext>
            </a:extLst>
          </p:cNvPr>
          <p:cNvCxnSpPr>
            <a:cxnSpLocks/>
            <a:stCxn id="19" idx="1"/>
            <a:endCxn id="21" idx="1"/>
          </p:cNvCxnSpPr>
          <p:nvPr/>
        </p:nvCxnSpPr>
        <p:spPr>
          <a:xfrm rot="10800000">
            <a:off x="3414627" y="1681394"/>
            <a:ext cx="12700" cy="4305046"/>
          </a:xfrm>
          <a:prstGeom prst="bentConnector3">
            <a:avLst>
              <a:gd name="adj1" fmla="val 10048543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D2FED0C-6FC6-6A40-E11E-C24C39C5740C}"/>
                  </a:ext>
                </a:extLst>
              </p:cNvPr>
              <p:cNvSpPr txBox="1"/>
              <p:nvPr/>
            </p:nvSpPr>
            <p:spPr>
              <a:xfrm>
                <a:off x="3414627" y="4148602"/>
                <a:ext cx="4775532" cy="110799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𝑺𝒊𝒎𝒖𝒍𝒂𝒕𝒆</m:t>
                      </m:r>
                    </m:oMath>
                  </m:oMathPara>
                </a14:m>
                <a:endParaRPr lang="en-US" altLang="zh-CN" sz="1600" b="1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𝑏𝑎𝑠𝑒𝑑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𝑜𝑛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𝑝𝑜𝑙𝑖𝑐𝑦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𝑓𝑢𝑛𝑐𝑡𝑖𝑜𝑛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</m:oMath>
                  </m:oMathPara>
                </a14:m>
                <a:endParaRPr lang="en-US" altLang="zh-CN" sz="1600" b="0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𝑡𝑜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𝑔𝑒𝑡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𝑛𝑒𝑤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𝑐𝑎𝑝𝑖𝑡𝑎𝑙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altLang="zh-CN" sz="1600" b="0" i="1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𝑡h𝑢𝑠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𝑎𝑛𝑑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𝑤𝑎𝑔𝑒</m:t>
                    </m:r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D2FED0C-6FC6-6A40-E11E-C24C39C57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627" y="4148602"/>
                <a:ext cx="4775532" cy="11079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87A8359-583B-EC69-91D1-F592CEB32016}"/>
                  </a:ext>
                </a:extLst>
              </p:cNvPr>
              <p:cNvSpPr txBox="1"/>
              <p:nvPr/>
            </p:nvSpPr>
            <p:spPr>
              <a:xfrm>
                <a:off x="3414627" y="2527310"/>
                <a:ext cx="4775532" cy="110799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𝑬𝒏𝒅𝒐𝒈𝒆𝒏𝒐𝒖𝒔</m:t>
                      </m:r>
                      <m:r>
                        <a:rPr lang="en-US" altLang="zh-CN" sz="1600" b="1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1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𝑮𝒓𝒊𝒅</m:t>
                      </m:r>
                      <m:r>
                        <a:rPr lang="en-US" altLang="zh-CN" sz="1600" b="1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1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𝑴𝒆𝒕𝒉𝒐𝒅</m:t>
                      </m:r>
                      <m:r>
                        <a:rPr lang="en-US" altLang="zh-CN" sz="1600" b="1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&amp; </m:t>
                      </m:r>
                      <m:r>
                        <a:rPr lang="en-US" altLang="zh-CN" sz="1600" b="1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𝑰𝒕𝒆𝒓𝒂𝒕𝒊𝒐𝒏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1600" b="0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𝑏𝑎𝑠𝑒𝑑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𝑜𝑛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altLang="zh-CN" sz="1600" b="0" i="1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𝑎𝑛𝑑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𝑤𝑎𝑔𝑒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altLang="zh-CN" sz="1600" b="0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𝑡𝑜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𝑔𝑒𝑡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𝑝𝑜𝑙𝑖𝑐𝑦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𝑓𝑢𝑛𝑐𝑡𝑖𝑜𝑛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.</m:t>
                      </m:r>
                    </m:oMath>
                  </m:oMathPara>
                </a14:m>
                <a:endParaRPr lang="en-US" altLang="zh-CN" sz="1600" b="0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𝑊h𝑒𝑡h𝑒𝑟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𝑝𝑜𝑙𝑖𝑐𝑦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𝑓𝑢𝑐𝑛𝑡𝑖𝑜𝑛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𝑐𝑜𝑛𝑣𝑒𝑟𝑔𝑒</m:t>
                    </m:r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87A8359-583B-EC69-91D1-F592CEB32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627" y="2527310"/>
                <a:ext cx="4775532" cy="1107996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290A3D4-23A3-2AC6-177C-430928A0FAA2}"/>
                  </a:ext>
                </a:extLst>
              </p:cNvPr>
              <p:cNvSpPr txBox="1"/>
              <p:nvPr/>
            </p:nvSpPr>
            <p:spPr>
              <a:xfrm>
                <a:off x="3414627" y="1389006"/>
                <a:ext cx="4775532" cy="58477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𝑮𝒖𝒆𝒔𝒔𝒆𝒅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𝑐𝑎𝑝𝑖𝑡𝑎𝑙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𝐾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</m:oMath>
                  </m:oMathPara>
                </a14:m>
                <a:endParaRPr lang="en-US" altLang="zh-CN" sz="1600" b="0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𝑡h𝑢𝑠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𝑟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𝑎𝑛𝑑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𝑤𝑎𝑔𝑒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290A3D4-23A3-2AC6-177C-430928A0F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627" y="1389006"/>
                <a:ext cx="4775532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A43F87A3-834D-B320-8C43-9623747CA0C8}"/>
              </a:ext>
            </a:extLst>
          </p:cNvPr>
          <p:cNvCxnSpPr>
            <a:cxnSpLocks/>
            <a:stCxn id="35" idx="2"/>
            <a:endCxn id="35" idx="0"/>
          </p:cNvCxnSpPr>
          <p:nvPr/>
        </p:nvCxnSpPr>
        <p:spPr>
          <a:xfrm rot="5400000" flipH="1">
            <a:off x="5625197" y="3081307"/>
            <a:ext cx="1107996" cy="12700"/>
          </a:xfrm>
          <a:prstGeom prst="bentConnector5">
            <a:avLst>
              <a:gd name="adj1" fmla="val -20632"/>
              <a:gd name="adj2" fmla="val -24359173"/>
              <a:gd name="adj3" fmla="val 120632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9ADBD80B-33E5-92F5-7AAD-29922CDF76C2}"/>
              </a:ext>
            </a:extLst>
          </p:cNvPr>
          <p:cNvCxnSpPr>
            <a:stCxn id="21" idx="2"/>
            <a:endCxn id="18" idx="0"/>
          </p:cNvCxnSpPr>
          <p:nvPr/>
        </p:nvCxnSpPr>
        <p:spPr>
          <a:xfrm>
            <a:off x="5802393" y="1973781"/>
            <a:ext cx="0" cy="5535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3118FF7B-B4A7-5960-3EBF-33B9CA9971FF}"/>
              </a:ext>
            </a:extLst>
          </p:cNvPr>
          <p:cNvCxnSpPr>
            <a:cxnSpLocks/>
            <a:stCxn id="18" idx="2"/>
            <a:endCxn id="16" idx="0"/>
          </p:cNvCxnSpPr>
          <p:nvPr/>
        </p:nvCxnSpPr>
        <p:spPr>
          <a:xfrm>
            <a:off x="5802393" y="3635306"/>
            <a:ext cx="0" cy="5132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B811B4A0-6AA2-7720-45C4-234FB73837F2}"/>
              </a:ext>
            </a:extLst>
          </p:cNvPr>
          <p:cNvCxnSpPr>
            <a:cxnSpLocks/>
            <a:stCxn id="16" idx="2"/>
            <a:endCxn id="19" idx="0"/>
          </p:cNvCxnSpPr>
          <p:nvPr/>
        </p:nvCxnSpPr>
        <p:spPr>
          <a:xfrm>
            <a:off x="5802393" y="5256598"/>
            <a:ext cx="0" cy="54517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618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E0C95-79B9-86B8-104B-8DC4AF311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94D0639-F954-A84E-13E5-D413B0D9C282}"/>
                  </a:ext>
                </a:extLst>
              </p:cNvPr>
              <p:cNvSpPr txBox="1"/>
              <p:nvPr/>
            </p:nvSpPr>
            <p:spPr>
              <a:xfrm>
                <a:off x="4157051" y="2527309"/>
                <a:ext cx="4044287" cy="110799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𝐸𝑛𝑑𝑜𝑔𝑒𝑛𝑜𝑢𝑠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𝐺𝑟𝑖𝑑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𝑀𝑒𝑡h𝑜𝑑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&amp;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𝐼𝑡𝑒𝑟𝑎𝑡𝑖𝑜𝑛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1600" b="0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𝑏𝑎𝑠𝑒𝑑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𝑜𝑛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altLang="zh-CN" sz="1600" b="0" i="1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𝑎𝑛𝑑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𝑤𝑎𝑔𝑒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altLang="zh-CN" sz="1600" b="0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𝑡𝑜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𝑔𝑒𝑡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𝑝𝑜𝑙𝑖𝑐𝑦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1600" b="0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𝑓𝑢𝑛𝑐𝑡𝑖𝑜𝑛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94D0639-F954-A84E-13E5-D413B0D9C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7051" y="2527309"/>
                <a:ext cx="4044287" cy="1107996"/>
              </a:xfrm>
              <a:prstGeom prst="rect">
                <a:avLst/>
              </a:prstGeom>
              <a:blipFill>
                <a:blip r:embed="rId2"/>
                <a:stretch>
                  <a:fillRect b="-1639"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3963778-67CC-7EC5-3BE4-A94B34C222E2}"/>
                  </a:ext>
                </a:extLst>
              </p:cNvPr>
              <p:cNvSpPr txBox="1"/>
              <p:nvPr/>
            </p:nvSpPr>
            <p:spPr>
              <a:xfrm>
                <a:off x="3414627" y="4148602"/>
                <a:ext cx="4775532" cy="83099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𝑺𝒊𝒎𝒖𝒍𝒂𝒕𝒆</m:t>
                      </m:r>
                    </m:oMath>
                  </m:oMathPara>
                </a14:m>
                <a:endParaRPr lang="en-US" altLang="zh-CN" sz="1600" b="1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𝑏𝑎𝑠𝑒𝑑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𝑜𝑛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𝑝𝑜𝑙𝑖𝑐𝑦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𝑓𝑢𝑛𝑐𝑡𝑖𝑜𝑛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</m:oMath>
                  </m:oMathPara>
                </a14:m>
                <a:endParaRPr lang="en-US" altLang="zh-CN" sz="1600" b="0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𝑡𝑜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𝑔𝑒𝑡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𝑤h𝑎𝑡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𝑤𝑒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𝑛𝑒𝑒𝑑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3963778-67CC-7EC5-3BE4-A94B34C22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627" y="4148602"/>
                <a:ext cx="4775532" cy="830997"/>
              </a:xfrm>
              <a:prstGeom prst="rect">
                <a:avLst/>
              </a:prstGeom>
              <a:blipFill>
                <a:blip r:embed="rId3"/>
                <a:stretch>
                  <a:fillRect b="-1449"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1F109A3-30B5-8F82-11E6-355CA9702617}"/>
                  </a:ext>
                </a:extLst>
              </p:cNvPr>
              <p:cNvSpPr txBox="1"/>
              <p:nvPr/>
            </p:nvSpPr>
            <p:spPr>
              <a:xfrm>
                <a:off x="3414627" y="2527310"/>
                <a:ext cx="4775532" cy="1107996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1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𝑬𝒏𝒅𝒐𝒈𝒆𝒏𝒐𝒖𝒔</m:t>
                      </m:r>
                      <m:r>
                        <a:rPr lang="en-US" altLang="zh-CN" sz="1600" b="1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1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𝑮𝒓𝒊𝒅</m:t>
                      </m:r>
                      <m:r>
                        <a:rPr lang="en-US" altLang="zh-CN" sz="1600" b="1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1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𝑴𝒆𝒕𝒉𝒐𝒅</m:t>
                      </m:r>
                      <m:r>
                        <a:rPr lang="en-US" altLang="zh-CN" sz="1600" b="1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&amp; </m:t>
                      </m:r>
                      <m:r>
                        <a:rPr lang="en-US" altLang="zh-CN" sz="1600" b="1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𝑰𝒕𝒆𝒓𝒂𝒕𝒊𝒐𝒏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1600" b="0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𝑏𝑎𝑠𝑒𝑑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𝑜𝑛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altLang="zh-CN" sz="1600" b="0" i="1" kern="1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 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𝑎𝑛𝑑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𝑤𝑎𝑔𝑒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endParaRPr lang="en-US" altLang="zh-CN" sz="1600" b="0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𝑡𝑜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𝑔𝑒𝑡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𝑝𝑜𝑙𝑖𝑐𝑦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𝑓𝑢𝑛𝑐𝑡𝑖𝑜𝑛</m:t>
                      </m:r>
                      <m:r>
                        <a:rPr lang="en-US" altLang="zh-CN" sz="1600" b="0" i="1" kern="10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.</m:t>
                      </m:r>
                    </m:oMath>
                  </m:oMathPara>
                </a14:m>
                <a:endParaRPr lang="en-US" altLang="zh-CN" sz="1600" b="0" i="1" kern="1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𝑊h𝑒𝑡h𝑒𝑟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𝑝𝑜𝑙𝑖𝑐𝑦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𝑓𝑢𝑐𝑛𝑡𝑖𝑜𝑛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1600" b="0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𝑐𝑜𝑛𝑣𝑒𝑟𝑔𝑒</m:t>
                    </m:r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D1F109A3-30B5-8F82-11E6-355CA9702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4627" y="2527310"/>
                <a:ext cx="4775532" cy="1107996"/>
              </a:xfrm>
              <a:prstGeom prst="rect">
                <a:avLst/>
              </a:prstGeom>
              <a:blipFill>
                <a:blip r:embed="rId4"/>
                <a:stretch>
                  <a:fillRect b="-1639"/>
                </a:stretch>
              </a:blipFill>
              <a:ln>
                <a:solidFill>
                  <a:schemeClr val="accent6">
                    <a:lumMod val="75000"/>
                  </a:schemeClr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C8AE3C84-6B0D-D2BC-DAA8-27584F3926A1}"/>
              </a:ext>
            </a:extLst>
          </p:cNvPr>
          <p:cNvCxnSpPr>
            <a:cxnSpLocks/>
            <a:stCxn id="35" idx="2"/>
            <a:endCxn id="35" idx="0"/>
          </p:cNvCxnSpPr>
          <p:nvPr/>
        </p:nvCxnSpPr>
        <p:spPr>
          <a:xfrm rot="5400000" flipH="1">
            <a:off x="5625197" y="3081307"/>
            <a:ext cx="1107996" cy="12700"/>
          </a:xfrm>
          <a:prstGeom prst="bentConnector5">
            <a:avLst>
              <a:gd name="adj1" fmla="val -20632"/>
              <a:gd name="adj2" fmla="val -24359173"/>
              <a:gd name="adj3" fmla="val 120632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A529F68B-C7E8-BBE2-4A94-FC8F3107946F}"/>
              </a:ext>
            </a:extLst>
          </p:cNvPr>
          <p:cNvCxnSpPr>
            <a:cxnSpLocks/>
            <a:stCxn id="18" idx="2"/>
            <a:endCxn id="16" idx="0"/>
          </p:cNvCxnSpPr>
          <p:nvPr/>
        </p:nvCxnSpPr>
        <p:spPr>
          <a:xfrm>
            <a:off x="5802393" y="3635306"/>
            <a:ext cx="0" cy="5132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682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429</Words>
  <Application>Microsoft Office PowerPoint</Application>
  <PresentationFormat>宽屏</PresentationFormat>
  <Paragraphs>84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Minjie Ding</dc:creator>
  <cp:lastModifiedBy>Minjie Ding</cp:lastModifiedBy>
  <cp:revision>15</cp:revision>
  <dcterms:created xsi:type="dcterms:W3CDTF">2024-12-28T02:53:24Z</dcterms:created>
  <dcterms:modified xsi:type="dcterms:W3CDTF">2025-01-03T12:36:47Z</dcterms:modified>
</cp:coreProperties>
</file>